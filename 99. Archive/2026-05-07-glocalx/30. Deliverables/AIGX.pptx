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8D8F1-D85F-FE06-A0FE-B7D435F57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9E6812-05BB-F546-2D3F-675055A3A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41D00-41C7-5797-B54E-CF869044C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1C130F-9F91-A649-BE66-0F14FC77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0058B9-4574-1A44-3092-D418512C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994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4D45EE-CD04-60BE-20C4-E447CB36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CDBB39-5046-35F4-83EE-D8B5297DF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4CB0AB-E72C-7258-9049-13005D31C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1A1351-5C17-CA49-1E52-BFF1447AE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F26F5C-F38A-C82D-5574-2B04B287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75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F56A3-309E-0D82-8AC7-59127D61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2F230A-BC6F-6D0A-B642-1AF8D6553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578A6E-F744-C825-426D-1E86F4A82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8FAAEA-86BD-0B3E-73AD-D4545DF9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8B4841-CB10-D580-6666-46CEE9EC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15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35ED7-60F3-34B9-B230-1FFC3B5E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CEAFB6-4608-1C9B-5E53-44D18BF3F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C9304-20C5-707E-197C-DE596EBE4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DA11DE-340E-0550-38A0-C4670B5EB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CCDE60-5F49-DA9A-DE80-3C72C32C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4E114-2DA3-DC53-23B7-17B0A4033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19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D0AB5-5A3F-FFAE-83A4-6CAB3B0E6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DC65C5-E6A7-3F9E-851B-815C9C508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75C3EA-65AC-1E87-8F4D-6E44FD86A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6AEE2A-8E50-2255-C7AF-C12B804CD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1FCC96-12AE-E3A5-5DE5-9DABB348B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A54C04-2579-2BF3-C687-CAAE90842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B6DADA-2A98-84A8-C03A-0928699A8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58CA87-DA93-5B33-329D-56261ED5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9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6148A-68CD-FA6C-7392-03984BEC9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3C3151-35DA-880E-9BFB-A0DAC6D0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8DBA23-0528-3799-9727-2142AEE98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0C3626-1D1C-1440-7522-C0D7A508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79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B37D25-C2EF-44B9-E98A-FA9C01364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1BE2E4-131C-BB5B-CCF2-30B2394A2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A03933-4E08-5585-71B5-04A5ECC6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842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FE4C8-8236-D070-05EB-FDB783AA1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CDD88-E690-A64B-CFE7-369285B38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440198-E549-7619-5AFD-21A754CD1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401742-CE4B-2695-E0CC-D9F3382C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8EAB9-C7EF-8077-D365-D97B3D5D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839A73-8F8C-93E4-1F65-F7096EA2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5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62968F-3A1B-24B3-CB6E-52D1749FC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CDE7E7-E5D3-3682-83FA-EACD84837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B1B80D-B503-7332-9A06-E58E1698C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1EB91A-9423-423A-38E0-51B4C95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A407E4-AFD4-5D77-06CD-883B8E9D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E03B9C-BEC5-DB4D-95A1-DA559869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57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D03F6-558E-21F4-2CE1-8DB16B828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294B8A-0E7F-720C-20DD-D7EDECDAB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6EEC90-10F1-C57C-FA82-4923A1BC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2FE89E-77BA-B84C-3AF7-B4E96117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17F02C-1602-BC53-6835-968E70D0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8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671F8EF-B784-2D7D-F6C8-717C3D82A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A34AB0-5C2B-6590-7782-5A2E17685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02F771-AB6D-ACA4-4114-1EB229E8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6CE5F4-8E33-6C51-C82C-D940C032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24F8BC-C1C7-280B-6A6C-3E617211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10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311CE39-A72C-8A8D-CC7A-2CDCF640A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DC1BD4-9CAF-AF3F-4399-68BD391C9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FEB18-73D3-529B-AE94-E01474F31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BA7D3-A800-4D38-B21A-0510571BF62C}" type="datetimeFigureOut">
              <a:rPr lang="ko-KR" altLang="en-US" smtClean="0"/>
              <a:t>2026-03-31(Tue)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01B678-F57B-7071-DCF9-C2DE50ADD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86F695-0D57-48D8-D934-6ABBBE8DE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DDD80-49EF-4F75-9224-1B34456F7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51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A532EB-7FD5-084A-28CB-5F6546D8F12A}"/>
              </a:ext>
            </a:extLst>
          </p:cNvPr>
          <p:cNvSpPr txBox="1"/>
          <p:nvPr/>
        </p:nvSpPr>
        <p:spPr>
          <a:xfrm>
            <a:off x="2622430" y="2505670"/>
            <a:ext cx="7470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소상공인 글로벌 매출 증대를 위한 </a:t>
            </a:r>
            <a:r>
              <a:rPr lang="en-US" altLang="ko-KR" b="1" dirty="0"/>
              <a:t>AI </a:t>
            </a:r>
            <a:r>
              <a:rPr lang="ko-KR" altLang="en-US" b="1" dirty="0"/>
              <a:t>에이전트 구축 로드맵 </a:t>
            </a:r>
            <a:endParaRPr lang="en-US" altLang="ko-KR" b="1" dirty="0"/>
          </a:p>
          <a:p>
            <a:endParaRPr lang="en-US" altLang="ko-KR" i="1" dirty="0"/>
          </a:p>
        </p:txBody>
      </p:sp>
    </p:spTree>
    <p:extLst>
      <p:ext uri="{BB962C8B-B14F-4D97-AF65-F5344CB8AC3E}">
        <p14:creationId xmlns:p14="http://schemas.microsoft.com/office/powerpoint/2010/main" val="1268797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E7BF5CA-BDA1-4307-80E0-2ECF548D8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604157"/>
              </p:ext>
            </p:extLst>
          </p:nvPr>
        </p:nvGraphicFramePr>
        <p:xfrm>
          <a:off x="460151" y="666626"/>
          <a:ext cx="11078988" cy="5297764"/>
        </p:xfrm>
        <a:graphic>
          <a:graphicData uri="http://schemas.openxmlformats.org/drawingml/2006/table">
            <a:tbl>
              <a:tblPr/>
              <a:tblGrid>
                <a:gridCol w="1309656">
                  <a:extLst>
                    <a:ext uri="{9D8B030D-6E8A-4147-A177-3AD203B41FA5}">
                      <a16:colId xmlns:a16="http://schemas.microsoft.com/office/drawing/2014/main" val="2296154889"/>
                    </a:ext>
                  </a:extLst>
                </a:gridCol>
                <a:gridCol w="566338">
                  <a:extLst>
                    <a:ext uri="{9D8B030D-6E8A-4147-A177-3AD203B41FA5}">
                      <a16:colId xmlns:a16="http://schemas.microsoft.com/office/drawing/2014/main" val="4036361078"/>
                    </a:ext>
                  </a:extLst>
                </a:gridCol>
                <a:gridCol w="2483628">
                  <a:extLst>
                    <a:ext uri="{9D8B030D-6E8A-4147-A177-3AD203B41FA5}">
                      <a16:colId xmlns:a16="http://schemas.microsoft.com/office/drawing/2014/main" val="2659106270"/>
                    </a:ext>
                  </a:extLst>
                </a:gridCol>
                <a:gridCol w="2412836">
                  <a:extLst>
                    <a:ext uri="{9D8B030D-6E8A-4147-A177-3AD203B41FA5}">
                      <a16:colId xmlns:a16="http://schemas.microsoft.com/office/drawing/2014/main" val="178584717"/>
                    </a:ext>
                  </a:extLst>
                </a:gridCol>
                <a:gridCol w="2283051">
                  <a:extLst>
                    <a:ext uri="{9D8B030D-6E8A-4147-A177-3AD203B41FA5}">
                      <a16:colId xmlns:a16="http://schemas.microsoft.com/office/drawing/2014/main" val="2890793333"/>
                    </a:ext>
                  </a:extLst>
                </a:gridCol>
                <a:gridCol w="2023479">
                  <a:extLst>
                    <a:ext uri="{9D8B030D-6E8A-4147-A177-3AD203B41FA5}">
                      <a16:colId xmlns:a16="http://schemas.microsoft.com/office/drawing/2014/main" val="3375106373"/>
                    </a:ext>
                  </a:extLst>
                </a:gridCol>
              </a:tblGrid>
              <a:tr h="2382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단계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마케팅 데이터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전략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기획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/UX 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로직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경험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개발 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기술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구현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GTM (KM)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57114"/>
                  </a:ext>
                </a:extLst>
              </a:tr>
              <a:tr h="10672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1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1. </a:t>
                      </a:r>
                      <a:r>
                        <a:rPr lang="ko-KR" altLang="en-US" sz="1200" b="1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사전 조사 </a:t>
                      </a:r>
                      <a:r>
                        <a:rPr lang="en-US" altLang="ko-KR" sz="1200" b="1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&amp; </a:t>
                      </a:r>
                      <a:r>
                        <a:rPr lang="ko-KR" altLang="en-US" sz="1200" b="1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라이브러리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과업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서면지역 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고기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국밥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회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카페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한국음식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치킨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술집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)</a:t>
                      </a:r>
                    </a:p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언어별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(EN/JP/TW) 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키워드 추출 및  </a:t>
                      </a:r>
                      <a:r>
                        <a:rPr lang="ko-KR" altLang="en-US" sz="1200" kern="0" spc="0" dirty="0" err="1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검색량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순위 분석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GBP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항목별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설명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메뉴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포스트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리뷰답변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) 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키워드 분산 배치 규칙 정의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GBP API 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권한 확인 및 데이터 수집 가능 범위 리스트업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타겟 지역 내 테스트 매장</a:t>
                      </a:r>
                      <a:r>
                        <a:rPr lang="en-US" altLang="ko-KR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(PoC) </a:t>
                      </a:r>
                      <a:r>
                        <a:rPr lang="ko-KR" altLang="en-US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리스트업 및 섭외 전략 수립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652167"/>
                  </a:ext>
                </a:extLst>
              </a:tr>
              <a:tr h="35136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산출물</a:t>
                      </a:r>
                      <a:endParaRPr lang="ko-KR" altLang="en-US" sz="1200" b="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글로벌 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SEO 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키워드 라이브러리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데이터 매핑 정의서</a:t>
                      </a:r>
                      <a:r>
                        <a:rPr lang="en-US" altLang="ko-KR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[API </a:t>
                      </a:r>
                      <a:r>
                        <a:rPr lang="ko-KR" altLang="en-US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기술 검토서</a:t>
                      </a:r>
                      <a:r>
                        <a:rPr lang="en-US" altLang="ko-KR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[PoC 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타겟 리스트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105054"/>
                  </a:ext>
                </a:extLst>
              </a:tr>
              <a:tr h="8542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2. </a:t>
                      </a:r>
                      <a:r>
                        <a:rPr lang="ko-KR" altLang="en-US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기획 </a:t>
                      </a:r>
                      <a:r>
                        <a:rPr lang="en-US" altLang="ko-KR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&amp; </a:t>
                      </a:r>
                      <a:r>
                        <a:rPr lang="ko-KR" altLang="en-US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로직 설계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과업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AI</a:t>
                      </a:r>
                      <a:r>
                        <a:rPr lang="ko-KR" altLang="en-US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가 생성할 다국어 답변 및 포스팅의 톤앤매너</a:t>
                      </a:r>
                      <a:r>
                        <a:rPr lang="en-US" altLang="ko-KR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페르소나</a:t>
                      </a:r>
                      <a:r>
                        <a:rPr lang="en-US" altLang="ko-KR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) </a:t>
                      </a:r>
                      <a:r>
                        <a:rPr lang="ko-KR" altLang="en-US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가이드라인 제작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사진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+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키워드 버튼 중심의 초간편 입력 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UX 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및 성과 대시보드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마케팅성과표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)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화면 설계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kern="0" spc="0" dirty="0" err="1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멀티모달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LLM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을 통한 사진분석을 통한 마케팅 키워드 자동 설정</a:t>
                      </a: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서비스 수익 모델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(BM) 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설계 및 과제 최종 스토리보드 확정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844703"/>
                  </a:ext>
                </a:extLst>
              </a:tr>
              <a:tr h="42832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산출물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[AI 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콘텐츠 가이드북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상세 화면 설계도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(Wireframe)]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시스템 아키텍처 설계도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비즈니스 모델 정의서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916046"/>
                  </a:ext>
                </a:extLst>
              </a:tr>
              <a:tr h="8542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 </a:t>
                      </a:r>
                      <a:r>
                        <a:rPr lang="ko-KR" altLang="en-US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개발 </a:t>
                      </a:r>
                      <a:r>
                        <a:rPr lang="en-US" altLang="ko-KR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&amp; </a:t>
                      </a:r>
                      <a:r>
                        <a:rPr lang="ko-KR" altLang="en-US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프로토타입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과업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AI 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생성 문구의 마케팅적 타당성 검증 및 프롬프트 튜닝 지원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설계된 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UX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와 실제 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AI 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결과물의 정합성 테스트 및 피드백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GBP API </a:t>
                      </a:r>
                      <a:r>
                        <a:rPr lang="ko-KR" altLang="en-US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연동 프로토타입 빌드 및 </a:t>
                      </a:r>
                      <a:r>
                        <a:rPr lang="en-US" altLang="ko-KR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'</a:t>
                      </a:r>
                      <a:r>
                        <a:rPr lang="ko-KR" altLang="en-US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길찾기</a:t>
                      </a:r>
                      <a:r>
                        <a:rPr lang="en-US" altLang="ko-KR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' </a:t>
                      </a:r>
                      <a:r>
                        <a:rPr lang="ko-KR" altLang="en-US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데이터 시각화 구현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개발 진척도 관리 및 실제 점주 대상 인터뷰용 질문지 작성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848179"/>
                  </a:ext>
                </a:extLst>
              </a:tr>
              <a:tr h="23828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산출물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[AI 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콘텐츠 품질 평가표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(Quality Scorecard)]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[UX </a:t>
                      </a:r>
                      <a:r>
                        <a:rPr lang="ko-KR" altLang="en-US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검증 보고서</a:t>
                      </a:r>
                      <a:r>
                        <a:rPr lang="en-US" altLang="ko-KR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작동 가능한 </a:t>
                      </a:r>
                      <a:r>
                        <a:rPr lang="en-US" sz="1200" b="0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MVP]</a:t>
                      </a:r>
                      <a:endParaRPr lang="en-US" sz="1200" b="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중간 점검 보고서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77069"/>
                  </a:ext>
                </a:extLst>
              </a:tr>
              <a:tr h="6906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 </a:t>
                      </a:r>
                      <a:r>
                        <a:rPr lang="ko-KR" altLang="en-US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검증 </a:t>
                      </a:r>
                      <a:r>
                        <a:rPr lang="en-US" altLang="ko-KR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&amp; </a:t>
                      </a:r>
                      <a:r>
                        <a:rPr lang="ko-KR" altLang="en-US" sz="1200" b="1" kern="0" spc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고투마켓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과업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실제 적용 후 키워드 노출 순위 변화 추적 및 데이터 해석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사용자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점주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) 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사용성 테스트 진행 및 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UI 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최종 보정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시스템 안정화 및 실제 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GBP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자동 포스팅 기능 최종 점검 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(GBP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승인이 </a:t>
                      </a:r>
                      <a:r>
                        <a:rPr lang="ko-KR" altLang="en-US" sz="1200" kern="0" spc="0" dirty="0" err="1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늦을시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원터치 포스팅 지원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(Deep Link 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활용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)＇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을 플랜 </a:t>
                      </a:r>
                      <a:r>
                        <a:rPr lang="en-US" altLang="ko-KR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B)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As-Is vs To-Be </a:t>
                      </a:r>
                      <a:r>
                        <a:rPr lang="ko-KR" altLang="en-US" sz="1200" b="1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성과 </a:t>
                      </a:r>
                      <a:r>
                        <a:rPr lang="ko-KR" altLang="en-US" sz="1200" b="1" kern="0" spc="0" dirty="0" err="1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분석</a:t>
                      </a:r>
                      <a:r>
                        <a:rPr lang="ko-KR" altLang="en-US" sz="1200" kern="0" spc="0" dirty="0" err="1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및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최종 피칭 자료</a:t>
                      </a:r>
                      <a:r>
                        <a:rPr 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완성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870225"/>
                  </a:ext>
                </a:extLst>
              </a:tr>
              <a:tr h="23828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산출물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[SEO 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성과 분석서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최종 서비스 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UI 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가이드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시스템 운영 명세서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최종 성과 발표 자료</a:t>
                      </a:r>
                      <a:r>
                        <a:rPr lang="en-US" altLang="ko-KR" sz="1200" b="0" kern="0" spc="0" dirty="0">
                          <a:solidFill>
                            <a:srgbClr val="1F1F1F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1270" marR="41270" marT="11410" marB="114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91251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F88F9FF6-D57E-6E20-0A6A-6076C9334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529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A298077-765F-4C14-23AF-9E1513A46F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8382" y="2500889"/>
            <a:ext cx="1107226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데이터의 근거 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1):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마케터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추출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키워드 뒤에는 항상 </a:t>
            </a:r>
            <a:r>
              <a:rPr lang="en-US" altLang="ko-KR" sz="1100" b="1" dirty="0">
                <a:latin typeface="Arial" panose="020B0604020202020204" pitchFamily="34" charset="0"/>
              </a:rPr>
              <a:t>[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구글 키워드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플래너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기준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검색</a:t>
            </a:r>
            <a:r>
              <a:rPr kumimoji="0" lang="ko-KR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량</a:t>
            </a:r>
            <a:r>
              <a:rPr lang="en-US" altLang="ko-KR" sz="1100" b="1" dirty="0">
                <a:latin typeface="Arial" panose="020B0604020202020204" pitchFamily="34" charset="0"/>
              </a:rPr>
              <a:t>]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혹은 </a:t>
            </a:r>
            <a:r>
              <a:rPr lang="en-US" altLang="ko-KR" sz="1100" b="1" dirty="0">
                <a:latin typeface="Arial" panose="020B0604020202020204" pitchFamily="34" charset="0"/>
              </a:rPr>
              <a:t>[</a:t>
            </a: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인근 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경쟁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매장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리뷰 분석 데이</a:t>
            </a: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터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</a:t>
            </a:r>
            <a:r>
              <a:rPr lang="ko-KR" altLang="en-US" sz="1100" dirty="0">
                <a:latin typeface="Arial" panose="020B0604020202020204" pitchFamily="34" charset="0"/>
              </a:rPr>
              <a:t>필수로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근거 없는 키워드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에 대한 지양 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극강의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단순함 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2):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기획자</a:t>
            </a:r>
            <a:r>
              <a:rPr lang="ko-KR" altLang="en-US" sz="1100" dirty="0">
                <a:latin typeface="Arial" panose="020B0604020202020204" pitchFamily="34" charset="0"/>
              </a:rPr>
              <a:t>는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우리 사장님들은 이거 5초 안에 끝내야 한다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</a:t>
            </a: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미션으로 기획</a:t>
            </a:r>
            <a:r>
              <a:rPr lang="en-US" altLang="ko-KR" sz="1100" b="1" dirty="0">
                <a:latin typeface="Arial" panose="020B0604020202020204" pitchFamily="34" charset="0"/>
              </a:rPr>
              <a:t>.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입력은 최소화, 결과(성과)는 극대화되는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UX가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핵심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데이터의 </a:t>
            </a: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본질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3):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ko-KR" altLang="en-US" sz="1100" dirty="0" err="1">
                <a:latin typeface="Arial" panose="020B0604020202020204" pitchFamily="34" charset="0"/>
              </a:rPr>
              <a:t>대쉬보드</a:t>
            </a:r>
            <a:r>
              <a:rPr lang="ko-KR" altLang="en-US" sz="1100" dirty="0">
                <a:latin typeface="Arial" panose="020B0604020202020204" pitchFamily="34" charset="0"/>
              </a:rPr>
              <a:t> 단에서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개발자에게 단순 클릭이 아니라 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길찾기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Directions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클릭 데이터가 대시보드 정중앙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으로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전/후 비교 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4):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우리 툴을 써서 '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길찾기'가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몇 번 늘었는가?</a:t>
            </a:r>
            <a:r>
              <a:rPr lang="en-US" altLang="ko-KR" sz="1100" b="1" dirty="0">
                <a:latin typeface="Arial" panose="020B0604020202020204" pitchFamily="34" charset="0"/>
              </a:rPr>
              <a:t>]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라는 숫자를 뽑아내는 데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집중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 검증 성공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22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495</Words>
  <Application>Microsoft Office PowerPoint</Application>
  <PresentationFormat>와이드스크린</PresentationFormat>
  <Paragraphs>56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페이퍼로지 5 Medium</vt:lpstr>
      <vt:lpstr>함초롬바탕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kmkim</dc:creator>
  <cp:lastModifiedBy>kmkim</cp:lastModifiedBy>
  <cp:revision>1</cp:revision>
  <dcterms:created xsi:type="dcterms:W3CDTF">2026-03-30T21:11:35Z</dcterms:created>
  <dcterms:modified xsi:type="dcterms:W3CDTF">2026-03-30T21:15:42Z</dcterms:modified>
</cp:coreProperties>
</file>